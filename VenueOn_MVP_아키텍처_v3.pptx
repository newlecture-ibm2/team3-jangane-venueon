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6366F1"/>
                </a:solidFill>
                <a:latin typeface="맑은 고딕"/>
              </a:defRPr>
            </a:pPr>
            <a:r>
              <a:t>VenueOn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맑은 고딕"/>
              </a:defRPr>
            </a:pPr>
            <a:r>
              <a:t>Venue + On  —  모든 이벤트가 시작되는 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1F5F9"/>
                </a:solidFill>
                <a:latin typeface="맑은 고딕"/>
              </a:defRPr>
            </a:pPr>
            <a:r>
              <a:t>MVP 아키텍처 v3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맑은 고딕"/>
              </a:defRPr>
            </a:pPr>
            <a:r>
              <a:t>유료·무료 이벤트 중계 + 커뮤니티 연장선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Spring Boot  |  Next.js 14  |  Vanilla CSS Module  |  Hexagonal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366F1"/>
                </a:solidFill>
                <a:latin typeface="맑은 고딕"/>
              </a:defRPr>
            </a:pPr>
            <a:r>
              <a:t>📌 MVP 기능 범위 (6개)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698480" cy="777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261872"/>
            <a:ext cx="45720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618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2070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1F5F9"/>
                </a:solidFill>
                <a:latin typeface="맑은 고딕"/>
              </a:defRPr>
            </a:pPr>
            <a:r>
              <a:t>회원가입 / 로그인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207008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맑은 고딕"/>
              </a:defRPr>
            </a:pPr>
            <a:r>
              <a:t>JWT 인증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11680"/>
            <a:ext cx="10698480" cy="777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176272"/>
            <a:ext cx="45720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762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1214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1F5F9"/>
                </a:solidFill>
                <a:latin typeface="맑은 고딕"/>
              </a:defRPr>
            </a:pPr>
            <a:r>
              <a:t>이벤트 CRUD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121408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맑은 고딕"/>
              </a:defRPr>
            </a:pPr>
            <a:r>
              <a:t>이벤트 생성·조회·수정·삭제, 세션/프로그램 관리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926080"/>
            <a:ext cx="10698480" cy="777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3090672"/>
            <a:ext cx="45720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0906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0358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1F5F9"/>
                </a:solidFill>
                <a:latin typeface="맑은 고딕"/>
              </a:defRPr>
            </a:pPr>
            <a:r>
              <a:t>마이페이지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035808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맑은 고딕"/>
              </a:defRPr>
            </a:pPr>
            <a:r>
              <a:t>내 이벤트 관리, 구매내역, 참여 이력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840480"/>
            <a:ext cx="10698480" cy="777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4400" y="4005072"/>
            <a:ext cx="45720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0050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9502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1F5F9"/>
                </a:solidFill>
                <a:latin typeface="맑은 고딕"/>
              </a:defRPr>
            </a:pPr>
            <a:r>
              <a:t>이벤트 티켓팅 + 결제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950208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맑은 고딕"/>
              </a:defRPr>
            </a:pPr>
            <a:r>
              <a:t>유료·무료 티켓 구매, 포트원 결제 연동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754880"/>
            <a:ext cx="10698480" cy="777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4400" y="4919472"/>
            <a:ext cx="45720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9194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48646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1F5F9"/>
                </a:solidFill>
                <a:latin typeface="맑은 고딕"/>
              </a:defRPr>
            </a:pPr>
            <a:r>
              <a:t>이벤트 커뮤니티 CRUD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4864608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맑은 고딕"/>
              </a:defRPr>
            </a:pPr>
            <a:r>
              <a:t>이벤트 기반 커뮤니티 생성·조회·수정·삭제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669280"/>
            <a:ext cx="10698480" cy="777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14400" y="5833872"/>
            <a:ext cx="45720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8338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57790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1F5F9"/>
                </a:solidFill>
                <a:latin typeface="맑은 고딕"/>
              </a:defRPr>
            </a:pPr>
            <a:r>
              <a:t>커뮤니티 글 CRUD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5779008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맑은 고딕"/>
              </a:defRPr>
            </a:pPr>
            <a:r>
              <a:t>게시글 작성·조회·수정·삭제, 후기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366F1"/>
                </a:solidFill>
                <a:latin typeface="맑은 고딕"/>
              </a:defRPr>
            </a:pPr>
            <a:r>
              <a:t>📌 사용자 정책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맑은 고딕"/>
              </a:defRPr>
            </a:pPr>
            <a:r>
              <a:t>권한 분리 없음 — 모든 사용자가 동일한 기능을 사용합니다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777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1F5F9"/>
                </a:solidFill>
                <a:latin typeface="맑은 고딕"/>
              </a:defRPr>
            </a:pPr>
            <a:r>
              <a:t>🔓  권한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965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맑은 고딕"/>
              </a:defRPr>
            </a:pPr>
            <a:r>
              <a:t>단일 권한 (로그인 사용자 = 모든 기능 접근 가능)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880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1F5F9"/>
                </a:solidFill>
                <a:latin typeface="맑은 고딕"/>
              </a:defRPr>
            </a:pPr>
            <a:r>
              <a:t>📋  이벤트 관리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8803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맑은 고딕"/>
              </a:defRPr>
            </a:pPr>
            <a:r>
              <a:t>본인이 만든 이벤트만 수정/삭제 가능 (작성자 검증)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794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1F5F9"/>
                </a:solidFill>
                <a:latin typeface="맑은 고딕"/>
              </a:defRPr>
            </a:pPr>
            <a:r>
              <a:t>💬  커뮤니티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794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맑은 고딕"/>
              </a:defRPr>
            </a:pPr>
            <a:r>
              <a:t>본인이 만든 커뮤니티만 수정/삭제 가능 (작성자 검증)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72000"/>
            <a:ext cx="10698480" cy="777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709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1F5F9"/>
                </a:solidFill>
                <a:latin typeface="맑은 고딕"/>
              </a:defRPr>
            </a:pPr>
            <a:r>
              <a:t>✏️  게시글/댓글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4709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맑은 고딕"/>
              </a:defRPr>
            </a:pPr>
            <a:r>
              <a:t>본인이 작성한 글만 수정/삭제 가능 (작성자 검증)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486400"/>
            <a:ext cx="10698480" cy="777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623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1F5F9"/>
                </a:solidFill>
                <a:latin typeface="맑은 고딕"/>
              </a:defRPr>
            </a:pPr>
            <a:r>
              <a:t>🔮  향후 확장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5623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맑은 고딕"/>
              </a:defRPr>
            </a:pPr>
            <a:r>
              <a:t>필요 시 역할(HOST/ADMIN) 분리 가능하도록 구조 유지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366F1"/>
                </a:solidFill>
                <a:latin typeface="맑은 고딕"/>
              </a:defRPr>
            </a:pPr>
            <a:r>
              <a:t>📌 MSA 서비스 분리 (3개)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1097280"/>
            <a:ext cx="393192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0" y="118872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1F5F9"/>
                </a:solidFill>
                <a:latin typeface="맑은 고딕"/>
              </a:defRPr>
            </a:pPr>
            <a:r>
              <a:t>🖥️ Frontend — Next.js 14 + CSS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920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맑은 고딕"/>
              </a:defRPr>
            </a:pPr>
            <a:r>
              <a:t>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2286000"/>
            <a:ext cx="5760720" cy="73152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2331720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🔀 API Gateway (Spring Cloud Gateway — JWT 검증 + 라우팅)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3017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맑은 고딕"/>
              </a:defRPr>
            </a:pPr>
            <a:r>
              <a:t>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74720"/>
            <a:ext cx="347472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5204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366F1"/>
                </a:solidFill>
                <a:latin typeface="맑은 고딕"/>
              </a:defRPr>
            </a:pPr>
            <a:r>
              <a:t>User Service</a:t>
            </a:r>
            <a:br/>
            <a:r>
              <a:t>:8081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회원/인증</a:t>
            </a:r>
            <a:br/>
            <a:r>
              <a:t>마이페이지</a:t>
            </a:r>
            <a:br/>
            <a:r>
              <a:t>JWT/Redis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3474720"/>
            <a:ext cx="347472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35204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366F1"/>
                </a:solidFill>
                <a:latin typeface="맑은 고딕"/>
              </a:defRPr>
            </a:pPr>
            <a:r>
              <a:t>Event Service</a:t>
            </a:r>
            <a:br/>
            <a:r>
              <a:t>:8082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1148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이벤트 CRUD</a:t>
            </a:r>
            <a:br/>
            <a:r>
              <a:t>세션/티켓</a:t>
            </a:r>
            <a:br/>
            <a:r>
              <a:t>결제/주문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3474720"/>
            <a:ext cx="347472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35204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366F1"/>
                </a:solidFill>
                <a:latin typeface="맑은 고딕"/>
              </a:defRPr>
            </a:pPr>
            <a:r>
              <a:t>Community Service</a:t>
            </a:r>
            <a:br/>
            <a:r>
              <a:t>:8083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41148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커뮤니티 CRUD</a:t>
            </a:r>
            <a:br/>
            <a:r>
              <a:t>게시글/댓글</a:t>
            </a:r>
            <a:br/>
            <a:r>
              <a:t>후기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" y="5577840"/>
            <a:ext cx="2560320" cy="54864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5623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맑은 고딕"/>
              </a:defRPr>
            </a:pPr>
            <a:r>
              <a:t>🗄️ PostgreSQL — user_db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0" y="5577840"/>
            <a:ext cx="2560320" cy="54864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0" y="5623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맑은 고딕"/>
              </a:defRPr>
            </a:pPr>
            <a:r>
              <a:t>🗄️ PostgreSQL — event_db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69680" y="5577840"/>
            <a:ext cx="2560320" cy="54864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0" y="5623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맑은 고딕"/>
              </a:defRPr>
            </a:pPr>
            <a:r>
              <a:t>🗄️ PostgreSQL — community_db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5577840"/>
            <a:ext cx="2560320" cy="54864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5623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맑은 고딕"/>
              </a:defRPr>
            </a:pPr>
            <a:r>
              <a:t>⚡ Redis — JWT 블랙리스트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366F1"/>
                </a:solidFill>
                <a:latin typeface="맑은 고딕"/>
              </a:defRPr>
            </a:pPr>
            <a:r>
              <a:t>📌 기술 스택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10698480" cy="457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51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맑은 고딕"/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051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맑은 고딕"/>
              </a:defRPr>
            </a:pPr>
            <a:r>
              <a:t>Next.js 14+ (App Router)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051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맑은 고딕"/>
              </a:defRPr>
            </a:pPr>
            <a:r>
              <a:t>React 18, SSR/SSG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10698480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맑은 고딕"/>
              </a:defRPr>
            </a:pPr>
            <a:r>
              <a:t>Styling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554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맑은 고딕"/>
              </a:defRPr>
            </a:pPr>
            <a:r>
              <a:t>Vanilla CSS Module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맑은 고딕"/>
              </a:defRPr>
            </a:pPr>
            <a:r>
              <a:t>컴포넌트별 스코프 CSS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011680"/>
            <a:ext cx="10698480" cy="457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57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맑은 고딕"/>
              </a:defRPr>
            </a:pPr>
            <a: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0574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맑은 고딕"/>
              </a:defRPr>
            </a:pPr>
            <a:r>
              <a:t>Spring Boot 3.x, Java 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057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맑은 고딕"/>
              </a:defRPr>
            </a:pPr>
            <a:r>
              <a:t>RESTful 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514600"/>
            <a:ext cx="10698480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560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맑은 고딕"/>
              </a:defRPr>
            </a:pPr>
            <a:r>
              <a:t>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560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맑은 고딕"/>
              </a:defRPr>
            </a:pPr>
            <a:r>
              <a:t>Hexagonal (Ports &amp; Adapters)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2560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맑은 고딕"/>
              </a:defRPr>
            </a:pPr>
            <a:r>
              <a:t>기능별 UseCase 독립 확장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17520"/>
            <a:ext cx="10698480" cy="457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063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맑은 고딕"/>
              </a:defRPr>
            </a:pPr>
            <a:r>
              <a:t>Gateway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063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맑은 고딕"/>
              </a:defRPr>
            </a:pPr>
            <a:r>
              <a:t>Spring Cloud Gateway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3063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맑은 고딕"/>
              </a:defRPr>
            </a:pPr>
            <a:r>
              <a:t>JWT 검증, 라우팅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520440"/>
            <a:ext cx="10698480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566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맑은 고딕"/>
              </a:defRPr>
            </a:pPr>
            <a:r>
              <a:t>통신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3566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맑은 고딕"/>
              </a:defRPr>
            </a:pPr>
            <a:r>
              <a:t>OpenFeign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566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맑은 고딕"/>
              </a:defRPr>
            </a:pPr>
            <a:r>
              <a:t>동기 REST 호출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023360"/>
            <a:ext cx="10698480" cy="457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069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맑은 고딕"/>
              </a:defRPr>
            </a:pPr>
            <a:r>
              <a:t>DB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4069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맑은 고딕"/>
              </a:defRPr>
            </a:pPr>
            <a:r>
              <a:t>PostgreSQL 15 ×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4069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맑은 고딕"/>
              </a:defRPr>
            </a:pPr>
            <a:r>
              <a:t>서비스별 독립 DB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526280"/>
            <a:ext cx="10698480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4572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맑은 고딕"/>
              </a:defRPr>
            </a:pPr>
            <a:r>
              <a:t>Cache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4572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맑은 고딕"/>
              </a:defRPr>
            </a:pPr>
            <a:r>
              <a:t>Redis 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4572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맑은 고딕"/>
              </a:defRPr>
            </a:pPr>
            <a:r>
              <a:t>JWT 블랙리스트, 캐시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029200"/>
            <a:ext cx="10698480" cy="457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074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맑은 고딕"/>
              </a:defRPr>
            </a:pPr>
            <a:r>
              <a:t>인증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0" y="5074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맑은 고딕"/>
              </a:defRPr>
            </a:pPr>
            <a:r>
              <a:t>Spring Security + JWT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5074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맑은 고딕"/>
              </a:defRPr>
            </a:pPr>
            <a:r>
              <a:t>Access + Refresh Token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5532120"/>
            <a:ext cx="10698480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577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맑은 고딕"/>
              </a:defRPr>
            </a:pPr>
            <a:r>
              <a:t>결제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0" y="5577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맑은 고딕"/>
              </a:defRPr>
            </a:pPr>
            <a:r>
              <a:t>포트원 (PortOne) API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79" y="5577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맑은 고딕"/>
              </a:defRPr>
            </a:pPr>
            <a:r>
              <a:t>유료 티켓 결제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6035040"/>
            <a:ext cx="10698480" cy="457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6080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맑은 고딕"/>
              </a:defRPr>
            </a:pPr>
            <a:r>
              <a:t>Infra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0" y="6080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맑은 고딕"/>
              </a:defRPr>
            </a:pPr>
            <a:r>
              <a:t>Docker + Docker Compose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79" y="6080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맑은 고딕"/>
              </a:defRPr>
            </a:pPr>
            <a:r>
              <a:t>로컬 개발 환경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366F1"/>
                </a:solidFill>
                <a:latin typeface="맑은 고딕"/>
              </a:defRPr>
            </a:pPr>
            <a:r>
              <a:t>📌 헥사고날 아키텍처 (Ports &amp; Adapters)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1F5F9"/>
                </a:solidFill>
                <a:latin typeface="맑은 고딕"/>
              </a:defRPr>
            </a:pPr>
            <a:r>
              <a:t>왜 헥사고날인가?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맑은 고딕"/>
              </a:defRPr>
            </a:pPr>
            <a:r>
              <a:t>레이어드 (기존)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645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맑은 고딕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맑은 고딕"/>
              </a:defRPr>
            </a:pPr>
            <a:r>
              <a:t>헥사고날 (적용)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F4444"/>
                </a:solidFill>
                <a:latin typeface="맑은 고딕"/>
              </a:defRPr>
            </a:pPr>
            <a:r>
              <a:t>Controller → Service →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103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C55E"/>
                </a:solidFill>
                <a:latin typeface="맑은 고딕"/>
              </a:defRPr>
            </a:pPr>
            <a:r>
              <a:t>Adapter → Port → UseCase → Port → Adapter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60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F4444"/>
                </a:solidFill>
                <a:latin typeface="맑은 고딕"/>
              </a:defRPr>
            </a:pPr>
            <a:r>
              <a:t>계층 간 강결합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560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560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C55E"/>
                </a:solidFill>
                <a:latin typeface="맑은 고딕"/>
              </a:defRPr>
            </a:pPr>
            <a:r>
              <a:t>도메인이 외부에 의존하지 않음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017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F4444"/>
                </a:solidFill>
                <a:latin typeface="맑은 고딕"/>
              </a:defRPr>
            </a:pPr>
            <a:r>
              <a:t>기능 추가 시 전 계층 수정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017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C55E"/>
                </a:solidFill>
                <a:latin typeface="맑은 고딕"/>
              </a:defRPr>
            </a:pPr>
            <a:r>
              <a:t>UseCase만 추가하면 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474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F4444"/>
                </a:solidFill>
                <a:latin typeface="맑은 고딕"/>
              </a:defRPr>
            </a:pPr>
            <a:r>
              <a:t>테스트 시 DB 필요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4747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C55E"/>
                </a:solidFill>
                <a:latin typeface="맑은 고딕"/>
              </a:defRPr>
            </a:pPr>
            <a:r>
              <a:t>Port를 Mock하여 단위 테스트 용이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  <a:latin typeface="맑은 고딕"/>
              </a:defRPr>
            </a:pPr>
            <a:r>
              <a:t>의존성 방향:  Adapter(in) → Port In → UseCase → Port Out → Adapter(out)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맑은 고딕"/>
              </a:defRPr>
            </a:pPr>
            <a:r>
              <a:t>핵심 규칙: 의존성은 항상 바깥 → 안쪽. Domain은 외부 기술을 모릅니다.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394960"/>
            <a:ext cx="1069848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486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  <a:latin typeface="맑은 고딕"/>
              </a:defRPr>
            </a:pPr>
            <a:r>
              <a:t>기능 추가 3단계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8521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1️⃣ Port In 정의  →  2️⃣ Service 구현  →  3️⃣ 필요 시 Port Out + Adapter 추가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1264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맑은 고딕"/>
              </a:defRPr>
            </a:pPr>
            <a:r>
              <a:t>기존 코드 수정 없이 UseCase + Port + Adapter만 추가 (OCP 원칙)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366F1"/>
                </a:solidFill>
                <a:latin typeface="맑은 고딕"/>
              </a:defRPr>
            </a:pPr>
            <a:r>
              <a:t>📌 API 목록 (총 42개)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3566160" cy="64008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User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5B4FC"/>
                </a:solidFill>
                <a:latin typeface="맑은 고딕"/>
              </a:defRPr>
            </a:pPr>
            <a:r>
              <a:t>7 APIs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566160" cy="365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POST /auth/signup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48840"/>
            <a:ext cx="3566160" cy="3657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POST /auth/login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560320"/>
            <a:ext cx="3566160" cy="365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6060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POST /auth/refresh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971800"/>
            <a:ext cx="3566160" cy="3657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0175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POST /auth/logout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83280"/>
            <a:ext cx="3566160" cy="365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4290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GET /users/me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794760"/>
            <a:ext cx="3566160" cy="3657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840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PUT /users/me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206240"/>
            <a:ext cx="3566160" cy="365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2519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GET /users/{id}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1005840"/>
            <a:ext cx="3566160" cy="64008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10515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Event 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13258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5B4FC"/>
                </a:solidFill>
                <a:latin typeface="맑은 고딕"/>
              </a:defRPr>
            </a:pPr>
            <a:r>
              <a:t>18 APIs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1737360"/>
            <a:ext cx="3566160" cy="365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17830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이벤트: POST/GET/PUT/DELETE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2148840"/>
            <a:ext cx="3566160" cy="3657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21945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PATCH /events/{id}/status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2560320"/>
            <a:ext cx="3566160" cy="365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0" y="26060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GET /events/my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80" y="2971800"/>
            <a:ext cx="3566160" cy="3657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34840" y="30175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세션: POST/GET/PUT/DELETE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3383280"/>
            <a:ext cx="3566160" cy="365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34290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티켓: POST/GET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0" y="3794760"/>
            <a:ext cx="3566160" cy="3657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4840" y="3840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주문: POST /orders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97680" y="4206240"/>
            <a:ext cx="3566160" cy="365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34840" y="42519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GET /orders/my, /{id}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7680" y="4617720"/>
            <a:ext cx="3566160" cy="3657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34840" y="46634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POST /orders/{id}/cancel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97680" y="5029200"/>
            <a:ext cx="3566160" cy="365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34840" y="50749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POST /payments/confirm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38160" y="1005840"/>
            <a:ext cx="3566160" cy="64008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38160" y="10515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Community Service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60" y="13258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5B4FC"/>
                </a:solidFill>
                <a:latin typeface="맑은 고딕"/>
              </a:defRPr>
            </a:pPr>
            <a:r>
              <a:t>17 APIs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38160" y="1737360"/>
            <a:ext cx="3566160" cy="365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75320" y="17830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커뮤니티: POST/GET/PUT/DELETE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138160" y="2148840"/>
            <a:ext cx="3566160" cy="3657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75320" y="21945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POST /{id}/join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38160" y="2560320"/>
            <a:ext cx="3566160" cy="365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75320" y="26060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DELETE /{id}/leave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38160" y="2971800"/>
            <a:ext cx="3566160" cy="3657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75320" y="30175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GET /{id}/members, /my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138160" y="3383280"/>
            <a:ext cx="3566160" cy="365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75320" y="34290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게시글: POST/GET/PUT/DELETE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138160" y="3794760"/>
            <a:ext cx="3566160" cy="3657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75320" y="3840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댓글: POST/GET/DELETE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366F1"/>
                </a:solidFill>
                <a:latin typeface="맑은 고딕"/>
              </a:defRPr>
            </a:pPr>
            <a:r>
              <a:t>📌 티켓 구매 → 마이페이지 구매내역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맑은 고딕"/>
              </a:defRPr>
            </a:pPr>
            <a:r>
              <a:t>💳 유료 티켓 구매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3891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366F1"/>
                </a:solidFill>
                <a:latin typeface="맑은 고딕"/>
              </a:defRPr>
            </a:pPr>
            <a:r>
              <a:t>사용자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691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맑은 고딕"/>
              </a:defRPr>
            </a:pPr>
            <a:r>
              <a:t>티켓 선택 → 결제 요청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48840"/>
            <a:ext cx="5029200" cy="43891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366F1"/>
                </a:solidFill>
                <a:latin typeface="맑은 고딕"/>
              </a:defRPr>
            </a:pPr>
            <a: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194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맑은 고딕"/>
              </a:defRPr>
            </a:pPr>
            <a:r>
              <a:t>포트원 결제창 오픈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51760"/>
            <a:ext cx="5029200" cy="43891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697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366F1"/>
                </a:solidFill>
                <a:latin typeface="맑은 고딕"/>
              </a:defRPr>
            </a:pPr>
            <a:r>
              <a:t>PortOne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697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맑은 고딕"/>
              </a:defRPr>
            </a:pPr>
            <a:r>
              <a:t>결제 완료 (imp_uid)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54680"/>
            <a:ext cx="5029200" cy="43891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2004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366F1"/>
                </a:solidFill>
                <a:latin typeface="맑은 고딕"/>
              </a:defRPr>
            </a:pPr>
            <a:r>
              <a:t>Gateway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200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맑은 고딕"/>
              </a:defRPr>
            </a:pPr>
            <a:r>
              <a:t>POST /api/orders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657600"/>
            <a:ext cx="5029200" cy="43891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366F1"/>
                </a:solidFill>
                <a:latin typeface="맑은 고딕"/>
              </a:defRPr>
            </a:pPr>
            <a:r>
              <a:t>Event Svc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3703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맑은 고딕"/>
              </a:defRPr>
            </a:pPr>
            <a:r>
              <a:t>결제 검증 → 주문 생성 (PAID)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160520"/>
            <a:ext cx="5029200" cy="43891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206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366F1"/>
                </a:solidFill>
                <a:latin typeface="맑은 고딕"/>
              </a:defRPr>
            </a:pPr>
            <a:r>
              <a:t>Frontend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4206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맑은 고딕"/>
              </a:defRPr>
            </a:pPr>
            <a:r>
              <a:t>✅ 마이페이지 구매내역으로 이동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097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  <a:latin typeface="맑은 고딕"/>
              </a:defRPr>
            </a:pPr>
            <a:r>
              <a:t>🆓 무료 티켓 등록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645920"/>
            <a:ext cx="5029200" cy="43891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1691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맑은 고딕"/>
              </a:defRPr>
            </a:pPr>
            <a:r>
              <a:t>사용자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1691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맑은 고딕"/>
              </a:defRPr>
            </a:pPr>
            <a:r>
              <a:t>무료 티켓 → 등록 요청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2148840"/>
            <a:ext cx="5029200" cy="43891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2194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맑은 고딕"/>
              </a:defRPr>
            </a:pPr>
            <a:r>
              <a:t>Gateway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2194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맑은 고딕"/>
              </a:defRPr>
            </a:pPr>
            <a:r>
              <a:t>POST /api/orders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2651760"/>
            <a:ext cx="5029200" cy="43891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2697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맑은 고딕"/>
              </a:defRPr>
            </a:pPr>
            <a:r>
              <a:t>Event Svc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2697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맑은 고딕"/>
              </a:defRPr>
            </a:pPr>
            <a:r>
              <a:t>주문 생성 (FREE_REGISTERED)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3154680"/>
            <a:ext cx="5029200" cy="43891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32004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맑은 고딕"/>
              </a:defRPr>
            </a:pPr>
            <a:r>
              <a:t>Frontend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3200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맑은 고딕"/>
              </a:defRPr>
            </a:pPr>
            <a:r>
              <a:t>✅ 마이페이지 구매내역으로 이동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029200"/>
            <a:ext cx="1069848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212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맑은 고딕"/>
              </a:defRPr>
            </a:pPr>
            <a:r>
              <a:t>📌 구매 완료 시 마이페이지 구매내역에 자동 표시</a:t>
            </a:r>
            <a:br/>
            <a:r>
              <a:t>   이벤트명, 티켓 종류, 결제 상태(PAID/FREE), 금액, 구매일시 확인 가능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366F1"/>
                </a:solidFill>
                <a:latin typeface="맑은 고딕"/>
              </a:defRPr>
            </a:pPr>
            <a:r>
              <a:t>📌 페이지 구성 (6개)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338328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1F5F9"/>
                </a:solidFill>
                <a:latin typeface="맑은 고딕"/>
              </a:defRPr>
            </a:pPr>
            <a:r>
              <a:t>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1F5F9"/>
                </a:solidFill>
                <a:latin typeface="맑은 고딕"/>
              </a:defRPr>
            </a:pPr>
            <a:r>
              <a:t>메인 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366F1"/>
                </a:solidFill>
                <a:latin typeface="맑은 고딕"/>
              </a:defRPr>
            </a:pPr>
            <a:r>
              <a:t>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맑은 고딕"/>
              </a:defRPr>
            </a:pPr>
            <a:r>
              <a:t>이벤트 목록/검색/필터</a:t>
            </a:r>
            <a:br/>
            <a:r>
              <a:t>인기 이벤트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097280"/>
            <a:ext cx="338328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59" y="12801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1F5F9"/>
                </a:solidFill>
                <a:latin typeface="맑은 고딕"/>
              </a:defRPr>
            </a:pPr>
            <a:r>
              <a:t>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19202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1F5F9"/>
                </a:solidFill>
                <a:latin typeface="맑은 고딕"/>
              </a:defRPr>
            </a:pPr>
            <a:r>
              <a:t>로그인/가입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331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366F1"/>
                </a:solidFill>
                <a:latin typeface="맑은 고딕"/>
              </a:defRPr>
            </a:pPr>
            <a:r>
              <a:t>/auth/*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26517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맑은 고딕"/>
              </a:defRPr>
            </a:pPr>
            <a:r>
              <a:t>회원가입, 로그인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097280"/>
            <a:ext cx="338328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2801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1F5F9"/>
                </a:solidFill>
                <a:latin typeface="맑은 고딕"/>
              </a:defRPr>
            </a:pPr>
            <a:r>
              <a:t>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9202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1F5F9"/>
                </a:solidFill>
                <a:latin typeface="맑은 고딕"/>
              </a:defRPr>
            </a:pPr>
            <a:r>
              <a:t>이벤트 상세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331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366F1"/>
                </a:solidFill>
                <a:latin typeface="맑은 고딕"/>
              </a:defRPr>
            </a:pPr>
            <a:r>
              <a:t>/events/[id]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6517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맑은 고딕"/>
              </a:defRPr>
            </a:pPr>
            <a:r>
              <a:t>이벤트 정보, 세션</a:t>
            </a:r>
            <a:br/>
            <a:r>
              <a:t>티켓 구매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840480"/>
            <a:ext cx="338328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0233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1F5F9"/>
                </a:solidFill>
                <a:latin typeface="맑은 고딕"/>
              </a:defRPr>
            </a:pPr>
            <a:r>
              <a:t>✏️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6634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1F5F9"/>
                </a:solidFill>
                <a:latin typeface="맑은 고딕"/>
              </a:defRPr>
            </a:pPr>
            <a:r>
              <a:t>이벤트 생성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0749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366F1"/>
                </a:solidFill>
                <a:latin typeface="맑은 고딕"/>
              </a:defRPr>
            </a:pPr>
            <a:r>
              <a:t>/events/new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3949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맑은 고딕"/>
              </a:defRPr>
            </a:pPr>
            <a:r>
              <a:t>이벤트 작성 폼</a:t>
            </a:r>
            <a:br/>
            <a:r>
              <a:t>(정보→세션→티켓)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59" y="3840480"/>
            <a:ext cx="338328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59" y="40233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1F5F9"/>
                </a:solidFill>
                <a:latin typeface="맑은 고딕"/>
              </a:defRPr>
            </a:pPr>
            <a:r>
              <a:t>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59" y="46634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1F5F9"/>
                </a:solidFill>
                <a:latin typeface="맑은 고딕"/>
              </a:defRPr>
            </a:pPr>
            <a:r>
              <a:t>커뮤니티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59" y="50749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366F1"/>
                </a:solidFill>
                <a:latin typeface="맑은 고딕"/>
              </a:defRPr>
            </a:pPr>
            <a:r>
              <a:t>/community/[id]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59" y="53949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맑은 고딕"/>
              </a:defRPr>
            </a:pPr>
            <a:r>
              <a:t>게시글 목록, 글 작성</a:t>
            </a:r>
            <a:br/>
            <a:r>
              <a:t>댓글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3840480"/>
            <a:ext cx="338328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40233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1F5F9"/>
                </a:solidFill>
                <a:latin typeface="맑은 고딕"/>
              </a:defRPr>
            </a:pPr>
            <a:r>
              <a:t>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46634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1F5F9"/>
                </a:solidFill>
                <a:latin typeface="맑은 고딕"/>
              </a:defRPr>
            </a:pPr>
            <a:r>
              <a:t>마이페이지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50749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366F1"/>
                </a:solidFill>
                <a:latin typeface="맑은 고딕"/>
              </a:defRPr>
            </a:pPr>
            <a:r>
              <a:t>/mypage/*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53949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맑은 고딕"/>
              </a:defRPr>
            </a:pPr>
            <a:r>
              <a:t>내 이벤트 관리</a:t>
            </a:r>
            <a:br/>
            <a:r>
              <a:t>구매내역, 참여 이력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366F1"/>
                </a:solidFill>
                <a:latin typeface="맑은 고딕"/>
              </a:defRPr>
            </a:pPr>
            <a:r>
              <a:t>📌 개발 일정 (8주)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10698480" cy="64008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맑은 고딕"/>
              </a:defRPr>
            </a:pPr>
            <a:r>
              <a:t>1주차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097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맑은 고딕"/>
              </a:defRPr>
            </a:pPr>
            <a:r>
              <a:t>🏗️ 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0972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맑은 고딕"/>
              </a:defRPr>
            </a:pPr>
            <a:r>
              <a:t>요구사항/ERD/API 설계, 와이어프레임, Docker 셋업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0698480" cy="640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745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맑은 고딕"/>
              </a:defRPr>
            </a:pPr>
            <a:r>
              <a:t>2주차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874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맑은 고딕"/>
              </a:defRPr>
            </a:pPr>
            <a:r>
              <a:t>🔧 인증+이벤트 기반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8745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맑은 고딕"/>
              </a:defRPr>
            </a:pPr>
            <a:r>
              <a:t>User Service, Gateway, Event CRUD, 프론트 공통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60320"/>
            <a:ext cx="10698480" cy="640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6517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맑은 고딕"/>
              </a:defRPr>
            </a:pPr>
            <a:r>
              <a:t>3주차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651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맑은 고딕"/>
              </a:defRPr>
            </a:pPr>
            <a:r>
              <a:t>🔧 이벤트 완성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6517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맑은 고딕"/>
              </a:defRPr>
            </a:pPr>
            <a:r>
              <a:t>검색/필터, 세션 CRUD, 티켓+결제, 이벤트 프론트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337560"/>
            <a:ext cx="10698480" cy="640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4290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맑은 고딕"/>
              </a:defRPr>
            </a:pPr>
            <a:r>
              <a:t>4주차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3429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맑은 고딕"/>
              </a:defRPr>
            </a:pPr>
            <a:r>
              <a:t>🔧 커뮤니티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4290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맑은 고딕"/>
              </a:defRPr>
            </a:pPr>
            <a:r>
              <a:t>커뮤니티 CRUD, 게시글/댓글, 커뮤니티 프론트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114800"/>
            <a:ext cx="10698480" cy="640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206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맑은 고딕"/>
              </a:defRPr>
            </a:pPr>
            <a:r>
              <a:t>5주차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4206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맑은 고딕"/>
              </a:defRPr>
            </a:pPr>
            <a:r>
              <a:t>🔧 마이페이지+연동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2062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맑은 고딕"/>
              </a:defRPr>
            </a:pPr>
            <a:r>
              <a:t>마이페이지, 서비스 간 OpenFeign 연동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892040"/>
            <a:ext cx="10698480" cy="640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9834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맑은 고딕"/>
              </a:defRPr>
            </a:pPr>
            <a:r>
              <a:t>6주차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4983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맑은 고딕"/>
              </a:defRPr>
            </a:pPr>
            <a:r>
              <a:t>🔧 통합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49834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맑은 고딕"/>
              </a:defRPr>
            </a:pPr>
            <a:r>
              <a:t>통합 테스트, UI 폴리싱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669279"/>
            <a:ext cx="1069848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76071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맑은 고딕"/>
              </a:defRPr>
            </a:pPr>
            <a:r>
              <a:t>7-8주차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576071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맑은 고딕"/>
              </a:defRPr>
            </a:pPr>
            <a:r>
              <a:t>🎯 마무리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5760719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맑은 고딕"/>
              </a:defRPr>
            </a:pPr>
            <a:r>
              <a:t>버그 수정, 데모 시나리오, 발표 자료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366F1"/>
                </a:solidFill>
                <a:latin typeface="맑은 고딕"/>
              </a:defRPr>
            </a:pPr>
            <a:r>
              <a:t>📌 팀원 역할 (5인)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10312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1F5F9"/>
                </a:solidFill>
                <a:latin typeface="맑은 고딕"/>
              </a:defRPr>
            </a:pPr>
            <a:r>
              <a:t>👩‍💻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366F1"/>
                </a:solidFill>
                <a:latin typeface="맑은 고딕"/>
              </a:defRPr>
            </a:pPr>
            <a:r>
              <a:t>프론트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맑은 고딕"/>
              </a:defRPr>
            </a:pPr>
            <a:r>
              <a:t>메인 홈</a:t>
            </a:r>
            <a:br/>
            <a:r>
              <a:t>이벤트(목록/상세/생성)</a:t>
            </a:r>
            <a:br/>
            <a:r>
              <a:t>검색/필터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1188720"/>
            <a:ext cx="210312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3716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1F5F9"/>
                </a:solidFill>
                <a:latin typeface="맑은 고딕"/>
              </a:defRPr>
            </a:pPr>
            <a:r>
              <a:t>👨‍💻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1945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366F1"/>
                </a:solidFill>
                <a:latin typeface="맑은 고딕"/>
              </a:defRPr>
            </a:pPr>
            <a:r>
              <a:t>프론트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10896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맑은 고딕"/>
              </a:defRPr>
            </a:pPr>
            <a:r>
              <a:t>커뮤니티</a:t>
            </a:r>
            <a:br/>
            <a:r>
              <a:t>(목록/상세/글 작성)</a:t>
            </a:r>
            <a:br/>
            <a:r>
              <a:t>마이페이지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1188720"/>
            <a:ext cx="210312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13716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1F5F9"/>
                </a:solidFill>
                <a:latin typeface="맑은 고딕"/>
              </a:defRPr>
            </a:pPr>
            <a:r>
              <a:t>⚙️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1945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366F1"/>
                </a:solidFill>
                <a:latin typeface="맑은 고딕"/>
              </a:defRPr>
            </a:pPr>
            <a:r>
              <a:t>백엔드</a:t>
            </a:r>
            <a:br/>
            <a:r>
              <a:t>User+Gateway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310896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맑은 고딕"/>
              </a:defRPr>
            </a:pPr>
            <a:r>
              <a:t>회원가입/JWT</a:t>
            </a:r>
            <a:br/>
            <a:r>
              <a:t>Gateway</a:t>
            </a:r>
            <a:br/>
            <a:r>
              <a:t>Redis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1188720"/>
            <a:ext cx="210312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0" y="13716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1F5F9"/>
                </a:solidFill>
                <a:latin typeface="맑은 고딕"/>
              </a:defRPr>
            </a:pPr>
            <a:r>
              <a:t>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21945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366F1"/>
                </a:solidFill>
                <a:latin typeface="맑은 고딕"/>
              </a:defRPr>
            </a:pPr>
            <a:r>
              <a:t>백엔드</a:t>
            </a:r>
            <a:br/>
            <a:r>
              <a:t>Event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310896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맑은 고딕"/>
              </a:defRPr>
            </a:pPr>
            <a:r>
              <a:t>이벤트/세션/티켓</a:t>
            </a:r>
            <a:br/>
            <a:r>
              <a:t>CRUD</a:t>
            </a:r>
            <a:br/>
            <a:r>
              <a:t>결제, 구매내역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66960" y="1188720"/>
            <a:ext cx="210312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60" y="13716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1F5F9"/>
                </a:solidFill>
                <a:latin typeface="맑은 고딕"/>
              </a:defRPr>
            </a:pPr>
            <a:r>
              <a:t>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21945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366F1"/>
                </a:solidFill>
                <a:latin typeface="맑은 고딕"/>
              </a:defRPr>
            </a:pPr>
            <a:r>
              <a:t>백엔드</a:t>
            </a:r>
            <a:br/>
            <a:r>
              <a:t>Community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310896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맑은 고딕"/>
              </a:defRPr>
            </a:pPr>
            <a:r>
              <a:t>커뮤니티/게시글</a:t>
            </a:r>
            <a:br/>
            <a:r>
              <a:t>댓글 CRUD</a:t>
            </a:r>
            <a:br/>
            <a:r>
              <a:t>OpenFeign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6366F1"/>
                </a:solidFill>
                <a:latin typeface="맑은 고딕"/>
              </a:defRPr>
            </a:pPr>
            <a:r>
              <a:t>VenueOn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맑은 고딕"/>
              </a:defRPr>
            </a:pPr>
            <a:r>
              <a:t>Venue + On  —  모든 이벤트가 시작되는 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1F5F9"/>
                </a:solidFill>
                <a:latin typeface="맑은 고딕"/>
              </a:defRPr>
            </a:pPr>
            <a: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